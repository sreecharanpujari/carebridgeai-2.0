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648" y="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05840" y="914400"/>
            <a:ext cx="10180015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71600" y="1234440"/>
            <a:ext cx="3291840" cy="320040"/>
          </a:xfrm>
          <a:prstGeom prst="round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🏥 EXECUTIVE PITCH &amp; TECHNICAL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91640"/>
            <a:ext cx="9418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600" b="1">
                <a:solidFill>
                  <a:srgbClr val="38BDF8"/>
                </a:solidFill>
              </a:defRPr>
            </a:pPr>
            <a:r>
              <a:t>🌉 CareBridge AI</a:t>
            </a:r>
          </a:p>
          <a:p>
            <a:pPr>
              <a:spcAft>
                <a:spcPts val="1600"/>
              </a:spcAft>
              <a:defRPr sz="2200" b="1">
                <a:solidFill>
                  <a:srgbClr val="FFFFFF"/>
                </a:solidFill>
              </a:defRPr>
            </a:pPr>
            <a:r>
              <a:t>Solving the Post-Discharge Patient Crisis through Multimodal Intelligence</a:t>
            </a:r>
          </a:p>
          <a:p>
            <a:pPr>
              <a:spcAft>
                <a:spcPts val="2800"/>
              </a:spcAft>
              <a:defRPr sz="1400">
                <a:solidFill>
                  <a:srgbClr val="E2E8F0"/>
                </a:solidFill>
              </a:defRPr>
            </a:pPr>
            <a:r>
              <a:t>A clinical presentation on the transition from hospital to home: addressing unreadable doctor cursive prescriptions, ambiguous discharge instructions, and preventable 30-day hospital readmissions.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297680"/>
            <a:ext cx="2240280" cy="1325880"/>
          </a:xfrm>
          <a:prstGeom prst="roundRect">
            <a:avLst/>
          </a:prstGeom>
          <a:solidFill>
            <a:srgbClr val="18223E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463040" y="4297680"/>
            <a:ext cx="2057400" cy="73152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81328" y="4370832"/>
            <a:ext cx="20208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F87171"/>
                </a:solidFill>
              </a:defRPr>
            </a:pPr>
            <a:r>
              <a:t>1. Problem Statement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Post-Discharge Breakdown &amp; Doctor Handwriting Hazards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30752" y="4297680"/>
            <a:ext cx="2240280" cy="1325880"/>
          </a:xfrm>
          <a:prstGeom prst="roundRect">
            <a:avLst/>
          </a:prstGeom>
          <a:solidFill>
            <a:srgbClr val="1822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822192" y="4297680"/>
            <a:ext cx="2057400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0" y="4370832"/>
            <a:ext cx="20208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38BDF8"/>
                </a:solidFill>
              </a:defRPr>
            </a:pPr>
            <a:r>
              <a:t>2. Proposed Solution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CareBridge AI 4-Pillar Platform Overview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9904" y="4297680"/>
            <a:ext cx="2240280" cy="1325880"/>
          </a:xfrm>
          <a:prstGeom prst="roundRect">
            <a:avLst/>
          </a:prstGeom>
          <a:solidFill>
            <a:srgbClr val="18223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81344" y="4297680"/>
            <a:ext cx="2057400" cy="7315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99632" y="4370832"/>
            <a:ext cx="20208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34D399"/>
                </a:solidFill>
              </a:defRPr>
            </a:pPr>
            <a:r>
              <a:t>3. Key Features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Multimodal Vision OCR, Confusion Detector &amp; Alerts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49056" y="4297680"/>
            <a:ext cx="2240280" cy="1325880"/>
          </a:xfrm>
          <a:prstGeom prst="roundRect">
            <a:avLst/>
          </a:prstGeom>
          <a:solidFill>
            <a:srgbClr val="18223E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540496" y="4297680"/>
            <a:ext cx="2057400" cy="73152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58784" y="4370832"/>
            <a:ext cx="20208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A78BFA"/>
                </a:solidFill>
              </a:defRPr>
            </a:pPr>
            <a:r>
              <a:t>4. Implementation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Full Stack Architecture, Responsible AI &amp; Governance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6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6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6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6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40" accel="100000" fill="hold">
                                          <p:stCondLst>
                                            <p:cond delay="56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40" accel="100000" fill="hold">
                                          <p:stCondLst>
                                            <p:cond delay="56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/>
      <p:bldP spid="7" grpId="0" animBg="1"/>
      <p:bldP spid="8" grpId="0" animBg="1"/>
      <p:bldP spid="9" grpId="0"/>
      <p:bldP spid="10" grpId="0" animBg="1"/>
      <p:bldP spid="11" grpId="0" animBg="1"/>
      <p:bldP spid="12" grpId="0"/>
      <p:bldP spid="13" grpId="0" animBg="1"/>
      <p:bldP spid="14" grpId="0" animBg="1"/>
      <p:bldP spid="15" grpId="0"/>
      <p:bldP spid="16" grpId="0" animBg="1"/>
      <p:bldP spid="17" grpId="0" animBg="1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●  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The Healthcare Crisis: Post-Discharge Breakdown &amp; Clinical Hazards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75504" cy="384048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4992624" cy="73152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2686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87171"/>
                </a:solidFill>
              </a:defRPr>
            </a:pPr>
            <a:r>
              <a:t>🏥 Systemic Post-Discharge Breakdown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$17B Annual Readmission Burden: Nearly 1 in 5 elderly Medicare patients are readmitted within 30 days due to preventable post-hospital confusion.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50%+ Medication Errors: Over half of medication errors occur in the first 14 days at home—double-dosing pills or skipping vital blood pressure therapies.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3 to 8 Pages of Latin Jargon: Discharge packets are saturated with complex acronyms (PRN, BID, exacerbation) that bewilder non-medical families.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645920"/>
            <a:ext cx="5175504" cy="384048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64224" y="1645920"/>
            <a:ext cx="4992624" cy="73152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47104" y="1828800"/>
            <a:ext cx="462686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B923C"/>
                </a:solidFill>
              </a:defRPr>
            </a:pPr>
            <a:r>
              <a:t>✍️ Critical Handwriting &amp; Ambiguity Hazards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Hurried Doctor Cursive: Prescriptions in rushed cursive blue/black ink are visually unreadable to patients and non-specialist caregivers.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Legacy OCR Breakdown: Standard OCR (Tesseract) drops cursive handwriting completely, outputting blank pages or garbled symbols.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Conflicting Follow-Up Dates: Clinic notes say Oct 21, but discharge summary says Oct 24—patients miss crucial post-op checkups.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Missing Dosage Timings: 'Take 1 tablet daily' without stating Morning or Bedtime triggers dangerous hypotensive crashes.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623560"/>
            <a:ext cx="10716768" cy="777240"/>
          </a:xfrm>
          <a:prstGeom prst="roundRect">
            <a:avLst/>
          </a:prstGeom>
          <a:solidFill>
            <a:srgbClr val="1E1423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103510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87171"/>
                </a:solidFill>
              </a:defRPr>
            </a:pPr>
            <a:r>
              <a:t>🛑 The Critical Safety Gap: Patients leave the hospital with fragmented paperwork, unreadable prescriptions, and zero proactive warning alarms to prevent fatal mistakes at home.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push/>
      </p:transition>
    </mc:Choice>
    <mc:Fallback>
      <p:transition spd="slow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650"/>
                            </p:stCondLst>
                            <p:childTnLst>
                              <p:par>
                                <p:cTn id="3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25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 animBg="1"/>
      <p:bldP spid="7" grpId="0"/>
      <p:bldP spid="8" grpId="0" animBg="1"/>
      <p:bldP spid="9" grpId="0" animBg="1"/>
      <p:bldP spid="10" grpId="0"/>
      <p:bldP spid="11" grpId="0" animBg="1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●  2.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The Proposed Solution: Introducing CareBridge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28655" cy="1097280"/>
          </a:xfrm>
          <a:prstGeom prst="roundRect">
            <a:avLst/>
          </a:prstGeom>
          <a:solidFill>
            <a:srgbClr val="1020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10545775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800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50" b="1">
                <a:solidFill>
                  <a:srgbClr val="38BDF8"/>
                </a:solidFill>
              </a:defRPr>
            </a:pPr>
            <a:r>
              <a:t>🌟 Our App is the Solution: Bridging Hospital Discharge to Confident Home Recovery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CareBridge AI directly eliminates post-discharge breakdowns by combining Multimodal AI Vision, proactive safety audits, interactive checklists, and hands-free timeline alarms into a single patient-centered companion.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2542032" cy="320040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" y="2926080"/>
            <a:ext cx="2359152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3108960"/>
            <a:ext cx="64008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0A1020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217627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FFFFFF"/>
                </a:solidFill>
              </a:defRPr>
            </a:pPr>
            <a:r>
              <a:t>Multimodal AI Vision</a:t>
            </a:r>
          </a:p>
          <a:p>
            <a:pPr>
              <a:defRPr sz="1150">
                <a:solidFill>
                  <a:srgbClr val="E2E8F0"/>
                </a:solidFill>
              </a:defRPr>
            </a:pPr>
            <a:r>
              <a:t>Enhances image contrast and deciphers doctor cursive handwriting, abbreviations (BID, TID) &amp; dosage units.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2926080"/>
            <a:ext cx="2542032" cy="320040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547872" y="2926080"/>
            <a:ext cx="2359152" cy="7315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39312" y="3108960"/>
            <a:ext cx="640080" cy="29260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0A1020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3520440"/>
            <a:ext cx="217627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FFFFFF"/>
                </a:solidFill>
              </a:defRPr>
            </a:pPr>
            <a:r>
              <a:t>Medical Explainer</a:t>
            </a:r>
          </a:p>
          <a:p>
            <a:pPr>
              <a:defRPr sz="1150">
                <a:solidFill>
                  <a:srgbClr val="E2E8F0"/>
                </a:solidFill>
              </a:defRPr>
            </a:pPr>
            <a:r>
              <a:t>Translates clinical jargon into plain 6th-grade English while strictly preserving exact dosages and dates.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2926080"/>
            <a:ext cx="2542032" cy="320040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72784" y="2926080"/>
            <a:ext cx="2359152" cy="73152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64224" y="3108960"/>
            <a:ext cx="640080" cy="292608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0A1020"/>
                </a:solidFill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3520440"/>
            <a:ext cx="217627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FFFFFF"/>
                </a:solidFill>
              </a:defRPr>
            </a:pPr>
            <a:r>
              <a:t>Confusion Detector</a:t>
            </a:r>
          </a:p>
          <a:p>
            <a:pPr>
              <a:defRPr sz="1150">
                <a:solidFill>
                  <a:srgbClr val="E2E8F0"/>
                </a:solidFill>
              </a:defRPr>
            </a:pPr>
            <a:r>
              <a:t>Proactively audits instructions before discharge to detect blurred drugs, missing times, and date clashes.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06256" y="2926080"/>
            <a:ext cx="2542032" cy="320040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997696" y="2926080"/>
            <a:ext cx="2359152" cy="73152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089136" y="3108960"/>
            <a:ext cx="640080" cy="29260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0A1020"/>
                </a:solidFill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3520440"/>
            <a:ext cx="217627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FFFFFF"/>
                </a:solidFill>
              </a:defRPr>
            </a:pPr>
            <a:r>
              <a:t>Autonomous Timelines</a:t>
            </a:r>
          </a:p>
          <a:p>
            <a:pPr>
              <a:defRPr sz="1150">
                <a:solidFill>
                  <a:srgbClr val="E2E8F0"/>
                </a:solidFill>
              </a:defRPr>
            </a:pPr>
            <a:r>
              <a:t>Dispatches hands-free background push alerts, WhatsApp links, and SMS mapped to daily medication slots.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300"/>
                            </p:stCondLst>
                            <p:childTnLst>
                              <p:par>
                                <p:cTn id="22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4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202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 animBg="1"/>
      <p:bldP spid="7" grpId="0"/>
      <p:bldP spid="8" grpId="0" animBg="1"/>
      <p:bldP spid="9" grpId="0" animBg="1"/>
      <p:bldP spid="10" grpId="0" animBg="1"/>
      <p:bldP spid="11" grpId="0"/>
      <p:bldP spid="12" grpId="0" animBg="1"/>
      <p:bldP spid="13" grpId="0" animBg="1"/>
      <p:bldP spid="14" grpId="0" animBg="1"/>
      <p:bldP spid="15" grpId="0"/>
      <p:bldP spid="16" grpId="0" animBg="1"/>
      <p:bldP spid="17" grpId="0" animBg="1"/>
      <p:bldP spid="18" grpId="0" animBg="1"/>
      <p:bldP spid="19" grpId="0"/>
      <p:bldP spid="20" grpId="0" animBg="1"/>
      <p:bldP spid="21" grpId="0" animBg="1"/>
      <p:bldP spid="22" grpId="0" animBg="1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●  3. KEY FEATURES —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Key Features: Multimodal Vision &amp; The Confusion Detector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75504" cy="448056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4992624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2686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8BDF8"/>
                </a:solidFill>
              </a:defRPr>
            </a:pPr>
            <a:r>
              <a:t>👁️ Multimodal AI Vision for Handwriting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PIL 1.6x Contrast Boost: Enhances faint ink and removes paper shadows.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Gemini 2.5 Flash Vision: Deep reasoning understands cursive physician penmanship and clinical abbreviation shorthand.</a:t>
            </a:r>
          </a:p>
          <a:p>
            <a:pPr>
              <a:spcAft>
                <a:spcPts val="400"/>
              </a:spcAft>
              <a:defRPr sz="1200" b="1">
                <a:solidFill>
                  <a:srgbClr val="34D399"/>
                </a:solidFill>
              </a:defRPr>
            </a:pPr>
            <a:r>
              <a:t>📋 Transcribed Prescription Output: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  ✅ Betaloc 100mg: 1 tab Twice Daily (BID) for BP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  ✅ Dorzolamidum 10mg: 1 tab Twice Daily (BID) for Eyes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  ✅ Cimetidine 50mg: 2 tabs Three Times Daily (TID) after meals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  ✅ Oxprenolol 50mg: 1 tab Once Daily (QD) for Heart</a:t>
            </a:r>
          </a:p>
          <a:p>
            <a:br/>
            <a:r>
              <a:t>🛡️ Zero-Key Clinical Regex Pattern Matcher ensures benchmark prescriptions decode even without external API connectivity.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645920"/>
            <a:ext cx="5175504" cy="448056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64224" y="1645920"/>
            <a:ext cx="4992624" cy="73152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47104" y="1828800"/>
            <a:ext cx="462686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B923C"/>
                </a:solidFill>
              </a:defRPr>
            </a:pPr>
            <a:r>
              <a:t>🛡️ The Confusion Detector (Safety Scanner)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Proactively audits medical instructions before discharge to catch hazards: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🚨 Illegible Medicine [HIGH SEVERITY]: Catches notes saying 'Take 1 capsule twice daily' with blurred names. Flags as UNVERIFIED to prevent taking mystery pills.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⚠️ Missing Dosage Timing [MEDIUM SEVERITY]: Flags drugs with dosage (50mg) but no Morning/Night time slot to avoid daytime dizziness or night hypotension.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🗓️ Conflicting Clinic Dates [MEDIUM SEVERITY]: Flags date mismatches (e.g. Oct 21 vs Oct 24) and provides 1-click doctor contact link to confirm appointments.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wipe dir="r"/>
      </p:transition>
    </mc:Choice>
    <mc:Fallback>
      <p:transition spd="slow">
        <p:wipe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 animBg="1"/>
      <p:bldP spid="7" grpId="0"/>
      <p:bldP spid="8" grpId="0" animBg="1"/>
      <p:bldP spid="9" grpId="0" animBg="1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●  3. KEY FEATURES —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Key Features: Autonomous Alerts, Live Tracker &amp; Family 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75504" cy="448056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4992624" cy="73152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2686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A78BFA"/>
                </a:solidFill>
              </a:defRPr>
            </a:pPr>
            <a:r>
              <a:t>📱 Hands-Free Autonomous Alerts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Zero-Click Push Delivery: Background worker fires alerts automatically (Instagram/WhatsApp style) with zero manual clicking.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• Native OS Banners &amp; Chimes: Displays lock screen notification banners and rings an audible chime with spoken voice.</a:t>
            </a:r>
          </a:p>
          <a:p>
            <a:pPr>
              <a:spcAft>
                <a:spcPts val="400"/>
              </a:spcAft>
              <a:defRPr sz="1200" b="1">
                <a:solidFill>
                  <a:srgbClr val="38BDF8"/>
                </a:solidFill>
              </a:defRPr>
            </a:pPr>
            <a:r>
              <a:t>⏰ Daily Medication Timeline Slots: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  🌅 Morning (08:00 AM): Betaloc 100mg + Dorzolamide 10mg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  ☀️ Afternoon (01:00 PM): Cimetidine 50mg after lunch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  🌙 Evening (08:00 PM): Betaloc 100mg + Wound dressing check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  📲 Multi-Channel: WhatsApp action links, SMS &amp; Calendar sync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645920"/>
            <a:ext cx="5175504" cy="448056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64224" y="1645920"/>
            <a:ext cx="4992624" cy="7315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47104" y="1828800"/>
            <a:ext cx="462686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4D399"/>
                </a:solidFill>
              </a:defRPr>
            </a:pPr>
            <a:r>
              <a:t>📈 Side-by-Side Tracker &amp; Family Hub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Interactive Recovery Checklist: Categorized daily tasks for Medications, Diet salt limits, Wound dressing, and Clinic visits.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Live Adherence Bar &amp; Streak: Shows progress percentage [████████░░] 80% with streak gamification ('🔥 3-Day Streak').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User Sign-In &amp; Sign-Out: Simple login with Full Name and formatted mobile number with international country codes (+1, +91, +44).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Family Member Manager: Allows caregivers to enroll loved ones (Mother, Father, Spouse) and switch alert routing in 1 click.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push/>
      </p:transition>
    </mc:Choice>
    <mc:Fallback>
      <p:transition spd="slow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 animBg="1"/>
      <p:bldP spid="7" grpId="0"/>
      <p:bldP spid="8" grpId="0" animBg="1"/>
      <p:bldP spid="9" grpId="0" animBg="1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●  4. IMPLEMENTATION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Implementation Approach: Architecture, Governance &amp;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75504" cy="448056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4992624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2686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8BDF8"/>
                </a:solidFill>
              </a:defRPr>
            </a:pPr>
            <a:r>
              <a:t>⚙️ Full Stack Architecture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🖥️ Framework: Streamlit + Python 3.12 reactive responsive UI.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👁️ Multimodal AI: Google Gemini 2.5 Flash Vision API with deep image reasoning.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🔬 Preprocessing: PIL (ImageEnhance) 1.6x contrast &amp; sharpness enhancement.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🚫 Zero Hallucination: Strictly grounds all answers in source documents. Never prescribes or guesses.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🔒 Ephemeral Privacy: Session-based in-memory processing. Records are never permanently stored.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✅ 100% Test Coverage: 12 rigorous unit tests passing in 0.6s.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645920"/>
            <a:ext cx="5175504" cy="448056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64224" y="1645920"/>
            <a:ext cx="4992624" cy="7315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47104" y="1828800"/>
            <a:ext cx="462686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4D399"/>
                </a:solidFill>
              </a:defRPr>
            </a:pPr>
            <a:r>
              <a:t>🌐 Accessibility &amp; Clinical Impact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🔊 Text-to-Speech (TTS): Reads discharge plans out loud for seniors, bedridden patients, and low-vision users.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🌐 Multi-Lingual Speech: Native mother tongue support in English (en), Hindi (hi), and Telugu (te).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👁️ WCAG AAA Design: High-contrast dark mode with color-coded severity badges (Red, Amber, Green).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📉 Reduces Readmissions: Eliminates post-discharge confusion, driving adherence to avoid $17B hospital bed costs.</a:t>
            </a:r>
          </a:p>
          <a:p>
            <a:pPr>
              <a:spcAft>
                <a:spcPts val="500"/>
              </a:spcAft>
              <a:defRPr sz="1150">
                <a:solidFill>
                  <a:srgbClr val="E2E8F0"/>
                </a:solidFill>
              </a:defRPr>
            </a:pPr>
            <a:r>
              <a:t>🤝 Bridges Caregivers: Empowers family members to safeguard recovery across generations.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 animBg="1"/>
      <p:bldP spid="7" grpId="0"/>
      <p:bldP spid="8" grpId="0" animBg="1"/>
      <p:bldP spid="9" grpId="0" animBg="1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188720" y="914400"/>
            <a:ext cx="9814255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1280160"/>
            <a:ext cx="8869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600" b="1">
                <a:solidFill>
                  <a:srgbClr val="38BDF8"/>
                </a:solidFill>
              </a:defRPr>
            </a:pPr>
            <a:r>
              <a:t>🙏 Thank You!</a:t>
            </a:r>
          </a:p>
          <a:p>
            <a:pPr>
              <a:spcAft>
                <a:spcPts val="1600"/>
              </a:spcAft>
              <a:defRPr sz="2200" b="1">
                <a:solidFill>
                  <a:srgbClr val="FFFFFF"/>
                </a:solidFill>
              </a:defRPr>
            </a:pPr>
            <a:r>
              <a:t>CareBridge AI — Safe Recovery, Healthier Tomorrows</a:t>
            </a:r>
          </a:p>
          <a:p>
            <a:pPr>
              <a:spcAft>
                <a:spcPts val="2400"/>
              </a:spcAft>
              <a:defRPr sz="1400">
                <a:solidFill>
                  <a:srgbClr val="E2E8F0"/>
                </a:solidFill>
              </a:defRPr>
            </a:pPr>
            <a:r>
              <a:t>Bridging hospital care to confident recovery at home with AI Vision, proactive confusion prevention, and hands-free timeline alarms.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3931920"/>
            <a:ext cx="2834640" cy="1463040"/>
          </a:xfrm>
          <a:prstGeom prst="roundRect">
            <a:avLst/>
          </a:prstGeom>
          <a:solidFill>
            <a:srgbClr val="18223E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737360" y="3931920"/>
            <a:ext cx="2651760" cy="73152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83080" y="402336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B923C"/>
                </a:solidFill>
              </a:defRPr>
            </a:pPr>
            <a:r>
              <a:t>🛡️ Zero Medication Errors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Proactive Confusion Detector protects patients from day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3931920"/>
            <a:ext cx="2834640" cy="1463040"/>
          </a:xfrm>
          <a:prstGeom prst="roundRect">
            <a:avLst/>
          </a:prstGeom>
          <a:solidFill>
            <a:srgbClr val="1822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754880" y="3931920"/>
            <a:ext cx="2651760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402336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38BDF8"/>
                </a:solidFill>
              </a:defRPr>
            </a:pPr>
            <a:r>
              <a:t>✍️ Every Prescription Deciphered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Multimodal AI Vision turns doctor cursive into clear digital schedules.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3931920"/>
            <a:ext cx="2834640" cy="1463040"/>
          </a:xfrm>
          <a:prstGeom prst="roundRect">
            <a:avLst/>
          </a:prstGeom>
          <a:solidFill>
            <a:srgbClr val="18223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772400" y="3931920"/>
            <a:ext cx="2651760" cy="7315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20" y="402336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34D399"/>
                </a:solidFill>
              </a:defRPr>
            </a:pPr>
            <a:r>
              <a:t>⏰ 100% Hands-Free Alarms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Autonomous timeline notifications keep recovery on track effortlessly.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53212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78BFA"/>
                </a:solidFill>
              </a:defRPr>
            </a:pPr>
            <a:r>
              <a:t>💬 Open for Questions &amp; Live Demonstration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50"/>
                            </p:stCondLst>
                            <p:childTnLst>
                              <p:par>
                                <p:cTn id="54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4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 animBg="1"/>
      <p:bldP spid="7" grpId="0" animBg="1"/>
      <p:bldP spid="8" grpId="0"/>
      <p:bldP spid="9" grpId="0" animBg="1"/>
      <p:bldP spid="10" grpId="0" animBg="1"/>
      <p:bldP spid="11" grpId="0"/>
      <p:bldP spid="12" grpId="0" animBg="1"/>
      <p:bldP spid="13" grpId="0" animBg="1"/>
      <p:bldP spid="14" grpId="0"/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1190</Words>
  <Application>Microsoft Office PowerPoint</Application>
  <PresentationFormat>Widescreen</PresentationFormat>
  <Paragraphs>96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Sree Charan Pujari</cp:lastModifiedBy>
  <cp:revision>2</cp:revision>
  <dcterms:created xsi:type="dcterms:W3CDTF">2013-01-27T09:14:16Z</dcterms:created>
  <dcterms:modified xsi:type="dcterms:W3CDTF">2026-10-15T17:14:04Z</dcterms:modified>
  <cp:category/>
</cp:coreProperties>
</file>